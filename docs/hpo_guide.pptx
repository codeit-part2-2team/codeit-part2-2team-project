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Stage 2 HPO 튜닝 노트북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A6E3A1"/>
                </a:solidFill>
              </a:rPr>
              <a:t>설정 &amp; 사용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3756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52044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DD6F4"/>
                </a:solidFill>
              </a:rPr>
              <a:t>hpo_tuning_colab.ipynb 를 처음 사용하기 전에 확인해야 할
디렉터리 구조 · 변수 설정 · 탐색 공간 파일 선택 방법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C7B8B"/>
                </a:solidFill>
              </a:rPr>
              <a:t>pill-detection-team2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디렉터리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전체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669280" cy="507492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A6E3A1"/>
                </a:solidFill>
                <a:latin typeface="Consolas"/>
              </a:rPr>
              <a:t>experiments/stage2_hpo_example/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│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├── search_spaces/                 ← 탐색 공간 YAML 파일 모음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│   ├── grid_quick.yaml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│   ├── grid_model_arch.yaml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│   ├── grid_search_space.yaml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│   ├── optuna_lr_focused.yaml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│   ├── optuna_search_space.yaml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│   └── optuna_full.yaml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│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└── &lt;HPO_RUN_NAME&gt;/               ← HPO 실험별 디렉터리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├── grid_search/              (TUNING_METHOD="grid" 시)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│   ├── results.csv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│   ├── best_trial.json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│   ├── search_space.yaml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│   └── trial_0000/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│       ├── config.yaml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│       └── result.json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└── optuna/                   (TUNING_METHOD="optuna" 시)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    ├── results.csv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    ├── best_trial.json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    ├── study.db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    └── trial_0000/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주요 산출물 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303520" cy="7315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179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9B4FA"/>
                </a:solidFill>
              </a:rPr>
              <a:t>results.csv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1051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전체 trial 결과 — status, score, params, elapsed_sec 포함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267712"/>
            <a:ext cx="5303520" cy="7315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3225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E3A1"/>
                </a:solidFill>
              </a:rPr>
              <a:t>best_trial.json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1518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최고 점수 trial 요약 — 파라미터 추출에 사용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072384"/>
            <a:ext cx="5303520" cy="7315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1272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DD6F4"/>
                </a:solidFill>
              </a:rPr>
              <a:t>search_space.yaml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4198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실행에 사용된 탐색 공간 사본 (재현용)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877056"/>
            <a:ext cx="5303520" cy="7315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E2AF"/>
                </a:solidFill>
              </a:rPr>
              <a:t>study.db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2452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Optuna 전용 — trial 기록 DB, 중단 후 재시작 시 이어서 탐색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681728"/>
            <a:ext cx="5303520" cy="7315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7365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DD6F4"/>
                </a:solidFill>
              </a:rPr>
              <a:t>trial_XXXX/config.yaml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02920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해당 trial 전체 config (재학습에 그대로 사용 가능)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486400"/>
            <a:ext cx="5303520" cy="7315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55412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DD6F4"/>
                </a:solidFill>
              </a:rPr>
              <a:t>trial_XXXX/result.json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83387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해당 trial 개별 결과 및 에러 메시지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필수 변수 설정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669280" cy="16916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669280" cy="29260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795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EXP_NAME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90472"/>
            <a:ext cx="5449824" cy="347472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81912"/>
            <a:ext cx="51755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E3A1"/>
                </a:solidFill>
                <a:latin typeface="Consolas"/>
              </a:rPr>
              <a:t>"exp_20260420_baseline_yolo26n"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892807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DD6F4"/>
                </a:solidFill>
              </a:rPr>
              <a:t>기준 s2_config.yaml을 가져올 Stage 실험명. 본인 실험 디렉터리명으로 수정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54498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B8B"/>
                </a:solidFill>
              </a:rPr>
              <a:t>EXP_DIR / s2_config.yaml 경로가 자동 결정됨. 없으면 stage2_classifier/config.yaml로 fallback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143000"/>
            <a:ext cx="5669280" cy="16916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143000"/>
            <a:ext cx="5669280" cy="29260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1795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HPO_RUN_NAME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64808" y="1490472"/>
            <a:ext cx="5449824" cy="347472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581912"/>
            <a:ext cx="51755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E3A1"/>
                </a:solidFill>
                <a:latin typeface="Consolas"/>
              </a:rPr>
              <a:t>"hpo_20260430_optuna_baseline"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1892807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DD6F4"/>
                </a:solidFill>
              </a:rPr>
              <a:t>이번 HPO 탐색 자체의 이름. 날짜 + 목적으로 구분 권장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167128"/>
            <a:ext cx="54498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B8B"/>
                </a:solidFill>
              </a:rPr>
              <a:t>출력 경로: stage2_hpo_example/&lt;HPO_RUN_NAME&gt;/&lt;method&gt;/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71800"/>
            <a:ext cx="5669280" cy="16916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5669280" cy="2926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0083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TUNING_METHOD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319272"/>
            <a:ext cx="5449824" cy="347472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410712"/>
            <a:ext cx="51755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E3A1"/>
                </a:solidFill>
                <a:latin typeface="Consolas"/>
              </a:rPr>
              <a:t>"optuna"  또는  "grid"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721608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DD6F4"/>
                </a:solidFill>
              </a:rPr>
              <a:t>HPO 방식 선택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995928"/>
            <a:ext cx="54498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B8B"/>
                </a:solidFill>
              </a:rPr>
              <a:t>grid: Cartesian product 순서 탐색 / optuna: 베이지안 최적화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971800"/>
            <a:ext cx="5669280" cy="16916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2971800"/>
            <a:ext cx="5669280" cy="2926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0083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TUNING_EPOCHS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4808" y="3319272"/>
            <a:ext cx="5449824" cy="347472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3410712"/>
            <a:ext cx="51755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E3A1"/>
                </a:solidFill>
                <a:latin typeface="Consolas"/>
              </a:rPr>
              <a:t>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3721608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DD6F4"/>
                </a:solidFill>
              </a:rPr>
              <a:t>trial당 학습 epoch 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3995928"/>
            <a:ext cx="54498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B8B"/>
                </a:solidFill>
              </a:rPr>
              <a:t>탐색 단계: 20~30 / 검증 단계(상위 trial 재학습): 50~80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00600"/>
            <a:ext cx="5669280" cy="16916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800600"/>
            <a:ext cx="5669280" cy="2926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8371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TUNING_TRIALS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148072"/>
            <a:ext cx="5449824" cy="347472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39512"/>
            <a:ext cx="51755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E3A1"/>
                </a:solidFill>
                <a:latin typeface="Consolas"/>
              </a:rP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550408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DD6F4"/>
                </a:solidFill>
              </a:rPr>
              <a:t>Optuna trial 수 (grid 모드에서는 무시됨)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824728"/>
            <a:ext cx="54498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B8B"/>
                </a:solidFill>
              </a:rPr>
              <a:t>grid는 --max-trials 12 고정. Optuna 권장: lr 탐색 30~50, 종합 탐색 50~100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4800600"/>
            <a:ext cx="5669280" cy="16916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5080" y="4800600"/>
            <a:ext cx="5669280" cy="29260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48371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SEARCH_SPACE_YAML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64808" y="5148072"/>
            <a:ext cx="5449824" cy="347472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01968" y="5239512"/>
            <a:ext cx="51755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6E3A1"/>
                </a:solidFill>
                <a:latin typeface="Consolas"/>
              </a:rPr>
              <a:t>HPO_ROOT / 'search_spaces/optuna_search_space.yaml'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4808" y="5550408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DD6F4"/>
                </a:solidFill>
              </a:rPr>
              <a:t>탐색 공간 YAML 파일 경로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64808" y="5824728"/>
            <a:ext cx="54498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B8B"/>
                </a:solidFill>
              </a:rPr>
              <a:t>None 으로 설정하면 스크립트 내 기본값(DEFAULT_OPTUNA_SPACE) 사용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SEARCH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탐색 공간 파일 선택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394960" cy="2926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Grid Search 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5394960" cy="84124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280160" cy="841248"/>
          </a:xfrm>
          <a:prstGeom prst="rect">
            <a:avLst/>
          </a:prstGeom>
          <a:solidFill>
            <a:srgbClr val="28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</a:rPr>
              <a:t>grid_quick.yaml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8653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6E3A1"/>
                </a:solidFill>
              </a:rPr>
              <a:t>12조합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5544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lr · 정규화 핵심 3종만. 처음 탐색할 때 빠르게 방향 잡기용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04288"/>
            <a:ext cx="5394960" cy="84124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04288"/>
            <a:ext cx="1280160" cy="841248"/>
          </a:xfrm>
          <a:prstGeom prst="rect">
            <a:avLst/>
          </a:prstGeom>
          <a:solidFill>
            <a:srgbClr val="28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3591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</a:rPr>
              <a:t>grid_model_arch.yaml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7797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6E3A1"/>
                </a:solidFill>
              </a:rPr>
              <a:t>12조합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4688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backbone 3종(resnet50 / efficientnet_b2 / efficientnetv2_s) 스크리닝. 아키텍처 결정 후 Optuna로 세밀 탐색 권장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18688"/>
            <a:ext cx="5394960" cy="84124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18688"/>
            <a:ext cx="1280160" cy="841248"/>
          </a:xfrm>
          <a:prstGeom prst="rect">
            <a:avLst/>
          </a:prstGeom>
          <a:solidFill>
            <a:srgbClr val="28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273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9B4FA"/>
                </a:solidFill>
              </a:rPr>
              <a:t>grid_search_space.yaml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6941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6E3A1"/>
                </a:solidFill>
              </a:rPr>
              <a:t>72조합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backbone + lr · weight_decay · label_smoothing 종합. 시간 여유 있을 때 사용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051560"/>
            <a:ext cx="5394960" cy="29260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07899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1E2E"/>
                </a:solidFill>
              </a:rPr>
              <a:t>Optuna 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389888"/>
            <a:ext cx="5394960" cy="84124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389888"/>
            <a:ext cx="1417320" cy="841248"/>
          </a:xfrm>
          <a:prstGeom prst="rect">
            <a:avLst/>
          </a:prstGeom>
          <a:solidFill>
            <a:srgbClr val="28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4447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6E3A1"/>
                </a:solidFill>
              </a:rPr>
              <a:t>optuna_lr_focused.yaml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86537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6E3A1"/>
                </a:solidFill>
              </a:rPr>
              <a:t>30~50 trial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1554480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backbone 고정 후 lr / lrf / weight_decay 세밀 탐색. grid_model_arch 결과 확인 후 사용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304288"/>
            <a:ext cx="5394960" cy="84124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2304288"/>
            <a:ext cx="1417320" cy="841248"/>
          </a:xfrm>
          <a:prstGeom prst="rect">
            <a:avLst/>
          </a:prstGeom>
          <a:solidFill>
            <a:srgbClr val="28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3591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6E3A1"/>
                </a:solidFill>
              </a:rPr>
              <a:t>optuna_search_space.yaml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77977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6E3A1"/>
                </a:solidFill>
              </a:rPr>
              <a:t>30 trial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2468880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기본 예시. backbone · lr · weight_decay · label_smoothing 탐색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218688"/>
            <a:ext cx="5394960" cy="84124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218688"/>
            <a:ext cx="1417320" cy="841248"/>
          </a:xfrm>
          <a:prstGeom prst="rect">
            <a:avLst/>
          </a:prstGeom>
          <a:solidFill>
            <a:srgbClr val="28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2735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6E3A1"/>
                </a:solidFill>
              </a:rPr>
              <a:t>optuna_full.yaml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69417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6E3A1"/>
                </a:solidFill>
              </a:rPr>
              <a:t>50~100 trial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3383280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아키텍처 + lr + 배치까지 종합 탐색. 시간 여유 있을 때 사용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251960"/>
            <a:ext cx="11274552" cy="749808"/>
          </a:xfrm>
          <a:prstGeom prst="rect">
            <a:avLst/>
          </a:prstGeom>
          <a:solidFill>
            <a:srgbClr val="28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315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</a:rPr>
              <a:t>권장 탐색 순서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</a:rPr>
              <a:t>① grid_model_arch  →  backbone 결정   ②  optuna_lr_focused  →  lr 최적화   ③  (선택) optuna_full  →  종합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YAML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탐색 공간 YAML 형식 가이드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Grid Search — 리스트 형식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B8B"/>
                </a:solidFill>
              </a:rPr>
              <a:t>각 항목을 리스트로 지정 → 모든 조합(Cartesian product) 탐색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5486400" cy="347472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521208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6E3A1"/>
                </a:solidFill>
                <a:latin typeface="Consolas"/>
              </a:rPr>
              <a:t>model: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name: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- resnet50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- efficientnet_b2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train: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lr0: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- 0.00003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- 0.0001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- 0.0003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weight_decay: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- 0.001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- 0.01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label_smoothing: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- 0.0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- 0.05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# 조합 수 = 2 × 3 × 2 × 2 =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</a:rPr>
              <a:t>Optuna — type 지정 형식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B8B"/>
                </a:solidFill>
              </a:rPr>
              <a:t>type 별로 탐색 방식이 달라짐 — float/int는 범위, categorical은 선택지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5486400" cy="347472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521208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6E3A1"/>
                </a:solidFill>
                <a:latin typeface="Consolas"/>
              </a:rPr>
              <a:t>model: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name: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type: categorical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choices: [resnet50, efficientnet_b2]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train: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lr0: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type: float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low: 0.000005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high: 0.001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log: true       # log scale 탐색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weight_decay: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type: float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low: 0.00005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high: 0.05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log: true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batch: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type: int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low: 16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high: 64</a:t>
            </a:r>
          </a:p>
          <a:p>
            <a:r>
              <a:rPr sz="1100">
                <a:solidFill>
                  <a:srgbClr val="A6E3A1"/>
                </a:solidFill>
                <a:latin typeface="Consolas"/>
              </a:rPr>
              <a:t>    step: 16        # 16, 32, 48, 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94960"/>
            <a:ext cx="11274552" cy="65836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58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E2AF"/>
                </a:solidFill>
              </a:rPr>
              <a:t>key 형식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458968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dotted key(train.lr0)와 nested YAML(train: lr0: ...) 모두 지원  |  최상위 key는 config 섹션명과 일치해야 함 (model, train, data, val ...)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노트북 실행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2697480" cy="2377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697480" cy="32918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§1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4533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</a:rPr>
              <a:t>Bootstrap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9384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Drive mount → repo clone → pip install → data unzip
RUN_BOOTSTRAP=False 로 스킵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43000"/>
            <a:ext cx="2697480" cy="2377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143000"/>
            <a:ext cx="2697480" cy="329184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188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§2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54533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</a:rPr>
              <a:t>경로 및 HPO 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929384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EXP_NAME / HPO_RUN_NAME / TUNING_METHOD
SEARCH_SPACE_YAML 지정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143000"/>
            <a:ext cx="2697480" cy="2377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143000"/>
            <a:ext cx="2697480" cy="329184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188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§2-1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54533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</a:rPr>
              <a:t>GT Crop manifest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929384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manifest 없으면 --imagefolder 로 자동 생성
ImageFolder 구조조차 없으면 FileNotFoundError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143000"/>
            <a:ext cx="2697480" cy="2377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143000"/>
            <a:ext cx="2697480" cy="32918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188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54533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</a:rPr>
              <a:t>HPO 실행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1929384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grid / optuna 분기 자동 처리
trial 중단 후 재실행 시 Optuna는 study.db 기반으로 이어서 탐색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49039"/>
            <a:ext cx="2697480" cy="2377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749039"/>
            <a:ext cx="2697480" cy="329184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9475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§4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15137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</a:rPr>
              <a:t>Trial 결과 비교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35424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results.csv 로드 → score 정렬 → 상위 20개 표 출력
failed trial 제외, elapsed_min 표시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3749039"/>
            <a:ext cx="2697480" cy="2377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46120" y="3749039"/>
            <a:ext cx="2697480" cy="329184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379475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§5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15137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</a:rPr>
              <a:t>Optuna 시각화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4535424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param importance / optimization history / contour
Optuna 모드 + study.db 존재 시에만 동작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749039"/>
            <a:ext cx="2697480" cy="2377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749039"/>
            <a:ext cx="2697480" cy="32918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79475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§6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15137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</a:rPr>
              <a:t>최적 config 추출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535424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best_trial.json → s2_best_config.yaml 저장
이후 stage2_train --config 에 이 파일 지정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6840" y="3749039"/>
            <a:ext cx="2697480" cy="23774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06840" y="3749039"/>
            <a:ext cx="2697480" cy="329184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379475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§7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15137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</a:rPr>
              <a:t>소요 시간 요약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4535424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trial 평균·전체 소요 시간 집계
다음 탐색 epoch·trial 수 결정에 활용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결과 파일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results.csv 컬럼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508760" cy="2926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9961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컬럼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463040"/>
            <a:ext cx="1417320" cy="2926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14996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예시값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463040"/>
            <a:ext cx="2697480" cy="2926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1499616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55648"/>
            <a:ext cx="150876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4708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B4FA"/>
                </a:solidFill>
              </a:rPr>
              <a:t>trial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755648"/>
            <a:ext cx="141732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76272" y="184708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trial_0003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1755648"/>
            <a:ext cx="269748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0752" y="1847088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trial 식별자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31136"/>
            <a:ext cx="150876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322576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B4FA"/>
                </a:solidFill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231136"/>
            <a:ext cx="141732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76272" y="2322576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ok / failed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231136"/>
            <a:ext cx="269748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2322576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실패 trial도 기록됨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706624"/>
            <a:ext cx="150876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2798064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B4FA"/>
                </a:solidFill>
              </a:rPr>
              <a:t>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2706624"/>
            <a:ext cx="141732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76272" y="2798064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0.9231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2706624"/>
            <a:ext cx="269748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30752" y="2798064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TUNING_METRIC 기준 최적화 점수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182112"/>
            <a:ext cx="150876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273552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B4FA"/>
                </a:solidFill>
              </a:rPr>
              <a:t>top1_acc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3182112"/>
            <a:ext cx="141732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76272" y="327355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0.9231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3182112"/>
            <a:ext cx="269748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30752" y="327355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Stage 2 validation top-1 정확도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657600"/>
            <a:ext cx="150876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3749039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B4FA"/>
                </a:solidFill>
              </a:rPr>
              <a:t>top5_acc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3657600"/>
            <a:ext cx="141732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76272" y="3749039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0.9980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3657600"/>
            <a:ext cx="269748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30752" y="3749039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Stage 2 validation top-5 정확도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133088"/>
            <a:ext cx="150876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422452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B4FA"/>
                </a:solidFill>
              </a:rPr>
              <a:t>elapsed_sec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4133088"/>
            <a:ext cx="141732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76272" y="422452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892.3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4133088"/>
            <a:ext cx="269748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30752" y="4224528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해당 trial 학습 소요 시간(초)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608576"/>
            <a:ext cx="150876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4700016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B4FA"/>
                </a:solidFill>
              </a:rPr>
              <a:t>params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03120" y="4608576"/>
            <a:ext cx="141732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76272" y="4700016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{"train.lr0": 0.0001}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0" y="4608576"/>
            <a:ext cx="269748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30752" y="4700016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적용된 하이퍼파라미터 JSON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084064"/>
            <a:ext cx="150876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5175504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B4FA"/>
                </a:solidFill>
              </a:rPr>
              <a:t>config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03120" y="5084064"/>
            <a:ext cx="141732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76272" y="5175504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trial_0003/config.yaml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0" y="5084064"/>
            <a:ext cx="2697480" cy="457200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30752" y="5175504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전체 config 경로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559552"/>
            <a:ext cx="150876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0352" y="5650992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B4FA"/>
                </a:solidFill>
              </a:rPr>
              <a:t>error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03120" y="5559552"/>
            <a:ext cx="141732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76272" y="565099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0" y="5559552"/>
            <a:ext cx="269748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30752" y="565099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DD6F4"/>
                </a:solidFill>
              </a:rPr>
              <a:t>실패 시 에러 메시지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</a:rPr>
              <a:t>best_trial.json 구조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0" y="1463040"/>
            <a:ext cx="5303520" cy="246888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3796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A6E3A1"/>
                </a:solidFill>
                <a:latin typeface="Consolas"/>
              </a:rPr>
              <a:t># Optuna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{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"number": 7,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"value": 0.9231,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"params": {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"model.name": "efficientnet_b2",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"train.lr0": 0.000082,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"train.weight_decay": 0.0031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},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"user_attrs": {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"top1_acc": 0.9231,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"top5_acc": 0.9980,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  "elapsed_sec": 892.3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}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}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4023360"/>
            <a:ext cx="5303520" cy="210312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37960" y="4114800"/>
            <a:ext cx="50292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A6E3A1"/>
                </a:solidFill>
                <a:latin typeface="Consolas"/>
              </a:rPr>
              <a:t># Grid Search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{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"trial": "trial_0003",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"status": "ok",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"score": 0.9015,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"top1_acc": 0.9015,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"top5_acc": 0.9970,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"elapsed_sec": 810.5,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  "params": "{\"train.lr0\": 0.0001, ...}"</a:t>
            </a:r>
          </a:p>
          <a:p>
            <a:r>
              <a:rPr sz="900">
                <a:solidFill>
                  <a:srgbClr val="A6E3A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최적 Config 추출 및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최적 config 추출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9601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411480" cy="9601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8308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</a:rPr>
              <a:t>best_trial.json 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476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HPO_RUN_NAME/optuna/ 또는 grid_search/ 에서 자동 탐색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87752"/>
            <a:ext cx="5486400" cy="9601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87752"/>
            <a:ext cx="411480" cy="9601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86207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67919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</a:rPr>
              <a:t>base config 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02666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EXP_DIR/s2_config.yaml 을 베이스로 사용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66744"/>
            <a:ext cx="5486400" cy="9601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66744"/>
            <a:ext cx="411480" cy="9601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941063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58183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</a:rPr>
              <a:t>파라미터 덮어쓰기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10565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best_params의 dotted key를 config에 적용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45736"/>
            <a:ext cx="5486400" cy="9601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745736"/>
            <a:ext cx="411480" cy="9601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020055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837175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</a:rPr>
              <a:t>s2_best_config.yaml 저장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1846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EXP_DIR/s2_best_config.yaml 로 저장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</a:rPr>
              <a:t>추출 후 다음 단계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508760"/>
            <a:ext cx="5303520" cy="120700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508760"/>
            <a:ext cx="109728" cy="120700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15819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</a:rPr>
              <a:t>상위 trial 재학습 (epoch 늘려서 검증)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1929384"/>
            <a:ext cx="50292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stage2_train.py --config trial_XXXX/config.yaml --data &lt;crop_root&gt;
더 많은 epoch으로 실제 성능 확인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834639"/>
            <a:ext cx="5303520" cy="120700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834639"/>
            <a:ext cx="109728" cy="120700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2907791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9B4FA"/>
                </a:solidFill>
              </a:rPr>
              <a:t>최적 config로 Stage 2 재학습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3255263"/>
            <a:ext cx="50292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stage2_train.py --config EXP_DIR/s2_best_config.yaml --data &lt;crop_root&gt;
HPO에서 찾은 파라미터로 최종 모델 학습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160520"/>
            <a:ext cx="5303520" cy="120700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160520"/>
            <a:ext cx="109728" cy="1207008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42336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</a:rPr>
              <a:t>다음 HPO 탐색 공간 좁히기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4581144"/>
            <a:ext cx="50292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결과 분포 확인 후 YAML 파일 범위를 best 근방으로 좁혀
새 HPO_RUN_NAME으로 재탐색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486400"/>
            <a:ext cx="5303520" cy="120700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5486400"/>
            <a:ext cx="109728" cy="120700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55595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8BA8"/>
                </a:solidFill>
              </a:rPr>
              <a:t>E2E 파이프라인 평가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5907024"/>
            <a:ext cx="50292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DD6F4"/>
                </a:solidFill>
              </a:rPr>
              <a:t>메인 노트북(pipeline_tutorial_colab.ipynb)에서
s2_best_config.yaml 적용 후 mAP 최종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