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65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Pretendard"/>
              </a:rPr>
              <a:t>Colab 2-Stage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89B4FA"/>
                </a:solidFill>
                <a:latin typeface="Pretendard"/>
              </a:rPr>
              <a:t>실행 전 설정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11274552" cy="2743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DD6F4"/>
                </a:solidFill>
                <a:latin typeface="Pretendard"/>
              </a:rPr>
              <a:t>약물 탐지 (Stage 1) + 분류 (Stage 2) 파이프라인을
Colab에서 처음 실행하기 전에 확인해야 할 설정 항목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B8B"/>
                </a:solidFill>
                <a:latin typeface="Pretendard"/>
              </a:rPr>
              <a:t>pill-detection-team2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전체 실행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411480" cy="19202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920239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173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Bootstrap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Drive mount → repo clone → pip install → data unzip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280160"/>
            <a:ext cx="356616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280160"/>
            <a:ext cx="411480" cy="19202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43984" y="1920239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14173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Stage 1 학습/추론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87451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YOLO26n 탐지 모델 학습 (스킵 가능) + val 추론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280160"/>
            <a:ext cx="356616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84464" y="1280160"/>
            <a:ext cx="411480" cy="19202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57616" y="1920239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7384" y="14173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GT Crop 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7384" y="187451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ImageFolder → crops_manifest.json 자동 생성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356616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411480" cy="19202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42062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Stage 2 학습/추론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1605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CDD6F4"/>
                </a:solidFill>
                <a:latin typeface="Pretendard"/>
              </a:rPr>
              <a:t>분류기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학습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(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스킵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가능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) +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val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crop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분류</a:t>
            </a:r>
            <a:endParaRPr sz="1100" b="0" dirty="0">
              <a:solidFill>
                <a:srgbClr val="CDD6F4"/>
              </a:solidFill>
              <a:latin typeface="Pretendard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70832" y="3566160"/>
            <a:ext cx="356616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70832" y="3566160"/>
            <a:ext cx="411480" cy="19202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43984" y="42062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E2E 평가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752" y="41605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pipeline mAP 계산 및 시각화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84464" y="3566160"/>
            <a:ext cx="356616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84464" y="3566160"/>
            <a:ext cx="411480" cy="19202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57616" y="42062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7384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Kaggle 제출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7384" y="41605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test 추론 → submission.csv 생성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Bootstrap 필수 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51460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변수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188720"/>
            <a:ext cx="150876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기본값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188720"/>
            <a:ext cx="644652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59" y="1234440"/>
            <a:ext cx="6309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36192"/>
            <a:ext cx="2514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609344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B4FA"/>
                </a:solidFill>
                <a:latin typeface="Pretendard"/>
              </a:rPr>
              <a:t>RUN_BOOTSTRAP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536192"/>
            <a:ext cx="150876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6093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  <a:latin typeface="Pretendard"/>
              </a:rPr>
              <a:t>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536192"/>
            <a:ext cx="644652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59" y="1609344"/>
            <a:ext cx="6309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False로 설정 시 Drive mount / clone / install / unzip 전부 스킵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11680"/>
            <a:ext cx="251460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08483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B4FA"/>
                </a:solidFill>
                <a:latin typeface="Pretendard"/>
              </a:rPr>
              <a:t>DRIVE_DATA_ZIP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011680"/>
            <a:ext cx="150876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0" y="20848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  <a:latin typeface="Pretendard"/>
              </a:rPr>
              <a:t>경로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011680"/>
            <a:ext cx="644652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59" y="2084832"/>
            <a:ext cx="6309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Google Drive 내 processed_v6.zip 절대경로. 본인 Drive 구조에 맞게 수정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87168"/>
            <a:ext cx="2514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2560320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B4FA"/>
                </a:solidFill>
                <a:latin typeface="Pretendard"/>
              </a:rPr>
              <a:t>FORCE_RECLONE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487168"/>
            <a:ext cx="150876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40" y="2560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  <a:latin typeface="Pretendard"/>
              </a:rPr>
              <a:t>False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487168"/>
            <a:ext cx="644652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37759" y="2560320"/>
            <a:ext cx="6309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True: 기존 repo 삭제 후 재클론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962656"/>
            <a:ext cx="251460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03580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B4FA"/>
                </a:solidFill>
                <a:latin typeface="Pretendard"/>
              </a:rPr>
              <a:t>FORCE_UNZIP_DATA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962656"/>
            <a:ext cx="150876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91840" y="3035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  <a:latin typeface="Pretendard"/>
              </a:rPr>
              <a:t>False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962656"/>
            <a:ext cx="644652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59" y="3035808"/>
            <a:ext cx="6309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True: dataset.yaml 존재 여부 무관하게 재압축 해제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438144"/>
            <a:ext cx="251460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511296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B4FA"/>
                </a:solidFill>
                <a:latin typeface="Pretendard"/>
              </a:rPr>
              <a:t>INSTALL_REQUIREMENTS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3438144"/>
            <a:ext cx="150876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0" y="35112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  <a:latin typeface="Pretendard"/>
              </a:rPr>
              <a:t>True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3438144"/>
            <a:ext cx="644652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37759" y="3511296"/>
            <a:ext cx="6309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False: pip install 스킵 (이미 설치된 경우)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74552" cy="685800"/>
          </a:xfrm>
          <a:prstGeom prst="rect">
            <a:avLst/>
          </a:prstGeom>
          <a:solidFill>
            <a:srgbClr val="3D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589788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38BA8"/>
                </a:solidFill>
                <a:latin typeface="Pretendard"/>
              </a:rPr>
              <a:t>⚠  </a:t>
            </a:r>
            <a:r>
              <a:rPr lang="en-US" sz="1300" b="1" dirty="0" err="1">
                <a:solidFill>
                  <a:srgbClr val="F38BA8"/>
                </a:solidFill>
                <a:latin typeface="Pretendard"/>
              </a:rPr>
              <a:t>gdrive_downloader.ipynb</a:t>
            </a:r>
            <a:r>
              <a:rPr lang="ko-KR" altLang="en-US" sz="1300" b="1" dirty="0">
                <a:solidFill>
                  <a:srgbClr val="F38BA8"/>
                </a:solidFill>
                <a:latin typeface="Pretendard"/>
              </a:rPr>
              <a:t>를 실행했는지 꼭 확인해 주세요</a:t>
            </a:r>
            <a:r>
              <a:rPr lang="en-US" altLang="ko-KR" sz="1300" b="1" dirty="0">
                <a:solidFill>
                  <a:srgbClr val="F38BA8"/>
                </a:solidFill>
                <a:latin typeface="Pretendard"/>
              </a:rPr>
              <a:t>!</a:t>
            </a:r>
            <a:endParaRPr sz="1300" b="1" dirty="0">
              <a:solidFill>
                <a:srgbClr val="F38BA8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dataset.yaml 경로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Pretendard"/>
              </a:rPr>
              <a:t>기대 디렉터리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237744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nsolas"/>
              </a:rPr>
              <a:t>/content/data/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processed/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dataset.yaml        ← EXPECTED_DATA_YAML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images/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  train/  val/  test/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labels/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  train/  val/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crops/              ← GT_CROP_ROOT (또는 processed/ 직접)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  train/  val/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Pretendard"/>
              </a:rPr>
              <a:t>dataset.yaml 내용 예시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08760"/>
            <a:ext cx="5303520" cy="237744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5029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A6E3A1"/>
                </a:solidFill>
                <a:latin typeface="Consolas"/>
              </a:rPr>
              <a:t>train: </a:t>
            </a:r>
            <a:r>
              <a:rPr lang="en-US" altLang="ko-KR" sz="1100" dirty="0">
                <a:solidFill>
                  <a:srgbClr val="A6E3A1"/>
                </a:solidFill>
                <a:latin typeface="Consolas"/>
              </a:rPr>
              <a:t>/content/data/processed</a:t>
            </a:r>
            <a:r>
              <a:rPr lang="en-US" sz="1100" dirty="0">
                <a:solidFill>
                  <a:srgbClr val="A6E3A1"/>
                </a:solidFill>
                <a:latin typeface="Consolas"/>
              </a:rPr>
              <a:t>/</a:t>
            </a:r>
            <a:r>
              <a:rPr sz="1100" dirty="0">
                <a:solidFill>
                  <a:srgbClr val="A6E3A1"/>
                </a:solidFill>
                <a:latin typeface="Consolas"/>
              </a:rPr>
              <a:t>images/train</a:t>
            </a:r>
          </a:p>
          <a:p>
            <a:r>
              <a:rPr sz="1100" dirty="0" err="1">
                <a:solidFill>
                  <a:srgbClr val="A6E3A1"/>
                </a:solidFill>
                <a:latin typeface="Consolas"/>
              </a:rPr>
              <a:t>val</a:t>
            </a:r>
            <a:r>
              <a:rPr sz="1100" dirty="0">
                <a:solidFill>
                  <a:srgbClr val="A6E3A1"/>
                </a:solidFill>
                <a:latin typeface="Consolas"/>
              </a:rPr>
              <a:t>:   </a:t>
            </a:r>
            <a:r>
              <a:rPr lang="en-US" altLang="ko-KR" sz="1100" dirty="0">
                <a:solidFill>
                  <a:srgbClr val="A6E3A1"/>
                </a:solidFill>
                <a:latin typeface="Consolas"/>
              </a:rPr>
              <a:t>/content/data/processed/</a:t>
            </a:r>
            <a:r>
              <a:rPr sz="1100" dirty="0">
                <a:solidFill>
                  <a:srgbClr val="A6E3A1"/>
                </a:solidFill>
                <a:latin typeface="Consolas"/>
              </a:rPr>
              <a:t>images/</a:t>
            </a:r>
            <a:r>
              <a:rPr sz="1100" dirty="0" err="1">
                <a:solidFill>
                  <a:srgbClr val="A6E3A1"/>
                </a:solidFill>
                <a:latin typeface="Consolas"/>
              </a:rPr>
              <a:t>val</a:t>
            </a:r>
            <a:endParaRPr sz="1100" dirty="0">
              <a:solidFill>
                <a:srgbClr val="A6E3A1"/>
              </a:solidFill>
              <a:latin typeface="Consolas"/>
            </a:endParaRPr>
          </a:p>
          <a:p>
            <a:r>
              <a:rPr sz="1100" dirty="0">
                <a:solidFill>
                  <a:srgbClr val="A6E3A1"/>
                </a:solidFill>
                <a:latin typeface="Consolas"/>
              </a:rPr>
              <a:t>test:  </a:t>
            </a:r>
            <a:r>
              <a:rPr lang="en-US" altLang="ko-KR" sz="1100" dirty="0">
                <a:solidFill>
                  <a:srgbClr val="A6E3A1"/>
                </a:solidFill>
                <a:latin typeface="Consolas"/>
              </a:rPr>
              <a:t>/content/data/processed/</a:t>
            </a:r>
            <a:r>
              <a:rPr sz="1100" dirty="0">
                <a:solidFill>
                  <a:srgbClr val="A6E3A1"/>
                </a:solidFill>
                <a:latin typeface="Consolas"/>
              </a:rPr>
              <a:t>images/test</a:t>
            </a:r>
          </a:p>
          <a:p>
            <a:endParaRPr sz="1100" dirty="0">
              <a:solidFill>
                <a:srgbClr val="A6E3A1"/>
              </a:solidFill>
              <a:latin typeface="Consolas"/>
            </a:endParaRPr>
          </a:p>
          <a:p>
            <a:r>
              <a:rPr sz="1100" dirty="0" err="1">
                <a:solidFill>
                  <a:srgbClr val="A6E3A1"/>
                </a:solidFill>
                <a:latin typeface="Consolas"/>
              </a:rPr>
              <a:t>nc</a:t>
            </a:r>
            <a:r>
              <a:rPr sz="1100" dirty="0">
                <a:solidFill>
                  <a:srgbClr val="A6E3A1"/>
                </a:solidFill>
                <a:latin typeface="Consolas"/>
              </a:rPr>
              <a:t>: </a:t>
            </a:r>
            <a:r>
              <a:rPr lang="en-US" sz="1100" dirty="0">
                <a:solidFill>
                  <a:srgbClr val="A6E3A1"/>
                </a:solidFill>
                <a:latin typeface="Consolas"/>
              </a:rPr>
              <a:t>1</a:t>
            </a:r>
            <a:endParaRPr sz="1100" dirty="0">
              <a:solidFill>
                <a:srgbClr val="A6E3A1"/>
              </a:solidFill>
              <a:latin typeface="Consolas"/>
            </a:endParaRPr>
          </a:p>
          <a:p>
            <a:r>
              <a:rPr sz="1100" dirty="0">
                <a:solidFill>
                  <a:srgbClr val="A6E3A1"/>
                </a:solidFill>
                <a:latin typeface="Consolas"/>
              </a:rPr>
              <a:t>names:</a:t>
            </a:r>
            <a:r>
              <a:rPr lang="en-US" sz="1100" dirty="0">
                <a:solidFill>
                  <a:srgbClr val="A6E3A1"/>
                </a:solidFill>
                <a:latin typeface="Consolas"/>
              </a:rPr>
              <a:t> [‘pill’]</a:t>
            </a:r>
            <a:endParaRPr sz="1100" dirty="0">
              <a:solidFill>
                <a:srgbClr val="A6E3A1"/>
              </a:solidFill>
              <a:latin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4141470"/>
            <a:ext cx="11274552" cy="21005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34060" y="4745484"/>
            <a:ext cx="838327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300" b="1" dirty="0">
                <a:solidFill>
                  <a:srgbClr val="A6E3A1"/>
                </a:solidFill>
                <a:latin typeface="+mj-ea"/>
                <a:ea typeface="+mj-ea"/>
              </a:rPr>
              <a:t>체크리스트</a:t>
            </a:r>
          </a:p>
          <a:p>
            <a:pPr marL="342900" indent="-342900" algn="l">
              <a:buAutoNum type="arabicPeriod"/>
            </a:pPr>
            <a:r>
              <a:rPr lang="en-US" altLang="ko-KR" sz="13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content/data </a:t>
            </a:r>
            <a:r>
              <a:rPr lang="ko-KR" altLang="en-US" sz="13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하위 디렉터리에 </a:t>
            </a:r>
            <a:r>
              <a:rPr lang="en-US" altLang="ko-KR" sz="1300" b="1" dirty="0" err="1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dataset.yaml</a:t>
            </a:r>
            <a:r>
              <a:rPr lang="en-US" altLang="ko-KR" sz="13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, images, labels, crops</a:t>
            </a:r>
            <a:r>
              <a:rPr lang="ko-KR" altLang="en-US" sz="13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가 맞게 와 있나요</a:t>
            </a:r>
            <a:r>
              <a:rPr lang="en-US" altLang="ko-KR" sz="13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? </a:t>
            </a:r>
            <a:r>
              <a:rPr lang="ko-KR" altLang="en-US" sz="13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이름이 </a:t>
            </a:r>
            <a:r>
              <a:rPr lang="ko-KR" altLang="en-US" sz="1300" b="1" dirty="0" err="1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틀리다면</a:t>
            </a:r>
            <a:r>
              <a:rPr lang="en-US" altLang="ko-KR" sz="13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3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현재 구조처럼 수정해 주세요</a:t>
            </a:r>
            <a:r>
              <a:rPr lang="en-US" altLang="ko-KR" sz="13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.</a:t>
            </a:r>
          </a:p>
          <a:p>
            <a:pPr marL="342900" indent="-342900" algn="l">
              <a:buAutoNum type="arabicPeriod"/>
            </a:pPr>
            <a:r>
              <a:rPr lang="en-US" altLang="ko-KR" sz="1300" b="1" dirty="0" err="1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dataset.yaml</a:t>
            </a:r>
            <a:r>
              <a:rPr lang="ko-KR" altLang="en-US" sz="13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파일의 내용이 내용 예시와 동일하게 구성되어 있나요</a:t>
            </a:r>
            <a:r>
              <a:rPr lang="en-US" altLang="ko-KR" sz="13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1300" b="1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Weight 파일 위치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577840" cy="4389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577840" cy="36576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161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Stage 1  best.pt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  <a:latin typeface="Pretendard"/>
              </a:rPr>
              <a:t>변수: BEST_PT_S1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5212080" cy="50292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E3A1"/>
                </a:solidFill>
                <a:latin typeface="Consolas"/>
              </a:rPr>
              <a:t>experiments/&lt;EXP_NAME&gt;/weights/best.pt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dirty="0">
                <a:solidFill>
                  <a:srgbClr val="CDD6F4"/>
                </a:solidFill>
              </a:rPr>
              <a:t>•  RUN_TRAIN_S1=False 인 </a:t>
            </a:r>
            <a:r>
              <a:rPr sz="1100" dirty="0" err="1">
                <a:solidFill>
                  <a:srgbClr val="CDD6F4"/>
                </a:solidFill>
              </a:rPr>
              <a:t>경우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반드시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사전에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Drive에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업로드</a:t>
            </a:r>
            <a:endParaRPr sz="1100" dirty="0">
              <a:solidFill>
                <a:srgbClr val="CDD6F4"/>
              </a:solidFill>
            </a:endParaRP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CDD6F4"/>
                </a:solidFill>
              </a:rPr>
              <a:t>•  </a:t>
            </a:r>
            <a:r>
              <a:rPr sz="1100" dirty="0" err="1">
                <a:solidFill>
                  <a:srgbClr val="CDD6F4"/>
                </a:solidFill>
              </a:rPr>
              <a:t>없으면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FileNotFoundError</a:t>
            </a:r>
            <a:r>
              <a:rPr sz="1100" dirty="0">
                <a:solidFill>
                  <a:srgbClr val="CDD6F4"/>
                </a:solidFill>
              </a:rPr>
              <a:t> 로 </a:t>
            </a:r>
            <a:r>
              <a:rPr sz="1100" dirty="0" err="1">
                <a:solidFill>
                  <a:srgbClr val="CDD6F4"/>
                </a:solidFill>
              </a:rPr>
              <a:t>파이프라인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중단</a:t>
            </a:r>
            <a:endParaRPr sz="1100" dirty="0">
              <a:solidFill>
                <a:srgbClr val="CDD6F4"/>
              </a:solidFill>
            </a:endParaRP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CDD6F4"/>
                </a:solidFill>
              </a:rPr>
              <a:t>•  </a:t>
            </a:r>
            <a:r>
              <a:rPr sz="1100" dirty="0" err="1">
                <a:solidFill>
                  <a:srgbClr val="CDD6F4"/>
                </a:solidFill>
              </a:rPr>
              <a:t>학습</a:t>
            </a:r>
            <a:r>
              <a:rPr sz="1100" dirty="0">
                <a:solidFill>
                  <a:srgbClr val="CDD6F4"/>
                </a:solidFill>
              </a:rPr>
              <a:t> 후 </a:t>
            </a:r>
            <a:r>
              <a:rPr sz="1100" dirty="0" err="1">
                <a:solidFill>
                  <a:srgbClr val="CDD6F4"/>
                </a:solidFill>
              </a:rPr>
              <a:t>자동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생성</a:t>
            </a:r>
            <a:r>
              <a:rPr sz="1100" dirty="0">
                <a:solidFill>
                  <a:srgbClr val="CDD6F4"/>
                </a:solidFill>
              </a:rPr>
              <a:t>: experiments/&lt;EXP_NAME&gt;/weights/best.pt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5577840" cy="4389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577840" cy="3657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2161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Stage 2  best.pt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  <a:latin typeface="Pretendard"/>
              </a:rPr>
              <a:t>변수: BEST_PT_S2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057400"/>
            <a:ext cx="5212080" cy="50292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148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E3A1"/>
                </a:solidFill>
                <a:latin typeface="Consolas"/>
              </a:rPr>
              <a:t>experiments/&lt;EXP_NAME&gt;/stage2/weights/best.pt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5176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dirty="0">
                <a:solidFill>
                  <a:srgbClr val="CDD6F4"/>
                </a:solidFill>
              </a:rPr>
              <a:t>•  RUN_TRAIN_S2=False 인 </a:t>
            </a:r>
            <a:r>
              <a:rPr sz="1100" dirty="0" err="1">
                <a:solidFill>
                  <a:srgbClr val="CDD6F4"/>
                </a:solidFill>
              </a:rPr>
              <a:t>경우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반드시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사전에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Drive에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업로드</a:t>
            </a:r>
            <a:endParaRPr sz="1100" dirty="0">
              <a:solidFill>
                <a:srgbClr val="CDD6F4"/>
              </a:solidFill>
            </a:endParaRP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CDD6F4"/>
                </a:solidFill>
              </a:rPr>
              <a:t>•  </a:t>
            </a:r>
            <a:r>
              <a:rPr sz="1100" dirty="0" err="1">
                <a:solidFill>
                  <a:srgbClr val="CDD6F4"/>
                </a:solidFill>
              </a:rPr>
              <a:t>대체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경로</a:t>
            </a:r>
            <a:r>
              <a:rPr sz="1100" dirty="0">
                <a:solidFill>
                  <a:srgbClr val="CDD6F4"/>
                </a:solidFill>
              </a:rPr>
              <a:t>: experiments/stage2_classifier/weights/best.pt (</a:t>
            </a:r>
            <a:r>
              <a:rPr sz="1100" dirty="0" err="1">
                <a:solidFill>
                  <a:srgbClr val="CDD6F4"/>
                </a:solidFill>
              </a:rPr>
              <a:t>자동</a:t>
            </a:r>
            <a:r>
              <a:rPr sz="1100" dirty="0">
                <a:solidFill>
                  <a:srgbClr val="CDD6F4"/>
                </a:solidFill>
              </a:rPr>
              <a:t> fallback)</a:t>
            </a:r>
          </a:p>
          <a:p>
            <a:pPr>
              <a:spcBef>
                <a:spcPts val="400"/>
              </a:spcBef>
            </a:pPr>
            <a:r>
              <a:rPr sz="1100" dirty="0">
                <a:solidFill>
                  <a:srgbClr val="CDD6F4"/>
                </a:solidFill>
              </a:rPr>
              <a:t>•  </a:t>
            </a:r>
            <a:r>
              <a:rPr sz="1100" dirty="0" err="1">
                <a:solidFill>
                  <a:srgbClr val="CDD6F4"/>
                </a:solidFill>
              </a:rPr>
              <a:t>학습</a:t>
            </a:r>
            <a:r>
              <a:rPr sz="1100" dirty="0">
                <a:solidFill>
                  <a:srgbClr val="CDD6F4"/>
                </a:solidFill>
              </a:rPr>
              <a:t> 후 </a:t>
            </a:r>
            <a:r>
              <a:rPr sz="1100" dirty="0" err="1">
                <a:solidFill>
                  <a:srgbClr val="CDD6F4"/>
                </a:solidFill>
              </a:rPr>
              <a:t>자동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생성</a:t>
            </a:r>
            <a:r>
              <a:rPr sz="1100" dirty="0">
                <a:solidFill>
                  <a:srgbClr val="CDD6F4"/>
                </a:solidFill>
              </a:rPr>
              <a:t>: stage2_train </a:t>
            </a:r>
            <a:r>
              <a:rPr sz="1100" dirty="0" err="1">
                <a:solidFill>
                  <a:srgbClr val="CDD6F4"/>
                </a:solidFill>
              </a:rPr>
              <a:t>스크립트</a:t>
            </a:r>
            <a:r>
              <a:rPr sz="1100" dirty="0">
                <a:solidFill>
                  <a:srgbClr val="CDD6F4"/>
                </a:solidFill>
              </a:rPr>
              <a:t> </a:t>
            </a:r>
            <a:r>
              <a:rPr sz="1100" dirty="0" err="1">
                <a:solidFill>
                  <a:srgbClr val="CDD6F4"/>
                </a:solidFill>
              </a:rPr>
              <a:t>실행</a:t>
            </a:r>
            <a:r>
              <a:rPr sz="1100" dirty="0">
                <a:solidFill>
                  <a:srgbClr val="CDD6F4"/>
                </a:solidFill>
              </a:rPr>
              <a:t> 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4552" cy="685800"/>
          </a:xfrm>
          <a:prstGeom prst="rect">
            <a:avLst/>
          </a:prstGeom>
          <a:solidFill>
            <a:srgbClr val="28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5216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A6E3A1"/>
                </a:solidFill>
                <a:latin typeface="Pretendard"/>
              </a:rPr>
              <a:t>✅  </a:t>
            </a:r>
            <a:r>
              <a:rPr lang="ko-KR" altLang="en-US" sz="1300" b="1" dirty="0">
                <a:solidFill>
                  <a:srgbClr val="A6E3A1"/>
                </a:solidFill>
                <a:latin typeface="Pretendard"/>
              </a:rPr>
              <a:t>새로 학습을 진행할 예정이 아니라면</a:t>
            </a:r>
            <a:r>
              <a:rPr lang="en-US" altLang="ko-KR" sz="1300" b="1" dirty="0">
                <a:solidFill>
                  <a:srgbClr val="A6E3A1"/>
                </a:solidFill>
                <a:latin typeface="Pretendard"/>
              </a:rPr>
              <a:t>, </a:t>
            </a:r>
            <a:r>
              <a:rPr lang="ko-KR" altLang="en-US" sz="1300" b="1" dirty="0">
                <a:solidFill>
                  <a:srgbClr val="A6E3A1"/>
                </a:solidFill>
                <a:latin typeface="Pretendard"/>
              </a:rPr>
              <a:t>가중치 파일을 노트북에 넣었는지 꼭 확인해 주세요</a:t>
            </a:r>
            <a:r>
              <a:rPr lang="en-US" altLang="ko-KR" sz="1300" b="1" dirty="0">
                <a:solidFill>
                  <a:srgbClr val="A6E3A1"/>
                </a:solidFill>
                <a:latin typeface="Pretendard"/>
              </a:rPr>
              <a:t>!</a:t>
            </a:r>
            <a:endParaRPr sz="1300" b="1" dirty="0">
              <a:solidFill>
                <a:srgbClr val="A6E3A1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GT CROP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GT Crop 구조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Pretendard"/>
              </a:rPr>
              <a:t>지원하는 GT Crop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394960" cy="228600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E3A1"/>
                </a:solidFill>
                <a:latin typeface="Consolas"/>
              </a:rPr>
              <a:t>[구조 A]  crops/ 하위에 split</a:t>
            </a:r>
          </a:p>
          <a:p>
            <a:r>
              <a:rPr sz="1000">
                <a:solidFill>
                  <a:srgbClr val="A6E3A1"/>
                </a:solidFill>
                <a:latin typeface="Consolas"/>
              </a:rPr>
              <a:t>data/processed/crops/</a:t>
            </a:r>
          </a:p>
          <a:p>
            <a:r>
              <a:rPr sz="1000">
                <a:solidFill>
                  <a:srgbClr val="A6E3A1"/>
                </a:solidFill>
                <a:latin typeface="Consolas"/>
              </a:rPr>
              <a:t>  train/</a:t>
            </a:r>
          </a:p>
          <a:p>
            <a:r>
              <a:rPr sz="1000">
                <a:solidFill>
                  <a:srgbClr val="A6E3A1"/>
                </a:solidFill>
                <a:latin typeface="Consolas"/>
              </a:rPr>
              <a:t>    crops_manifest.json</a:t>
            </a:r>
          </a:p>
          <a:p>
            <a:r>
              <a:rPr sz="1000">
                <a:solidFill>
                  <a:srgbClr val="A6E3A1"/>
                </a:solidFill>
                <a:latin typeface="Consolas"/>
              </a:rPr>
              <a:t>    &lt;class_name&gt;/  (ImageFolder)</a:t>
            </a:r>
          </a:p>
          <a:p>
            <a:r>
              <a:rPr sz="1000">
                <a:solidFill>
                  <a:srgbClr val="A6E3A1"/>
                </a:solidFill>
                <a:latin typeface="Consolas"/>
              </a:rPr>
              <a:t>  val/</a:t>
            </a:r>
          </a:p>
          <a:p>
            <a:r>
              <a:rPr sz="1000">
                <a:solidFill>
                  <a:srgbClr val="A6E3A1"/>
                </a:solidFill>
                <a:latin typeface="Consolas"/>
              </a:rPr>
              <a:t>    crops_manifest.json</a:t>
            </a:r>
          </a:p>
          <a:p>
            <a:r>
              <a:rPr sz="1000">
                <a:solidFill>
                  <a:srgbClr val="A6E3A1"/>
                </a:solidFill>
                <a:latin typeface="Consolas"/>
              </a:rPr>
              <a:t>    &lt;class_name&gt;/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5394960" cy="228600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977639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A6E3A1"/>
                </a:solidFill>
                <a:latin typeface="Consolas"/>
              </a:rPr>
              <a:t>[</a:t>
            </a:r>
            <a:r>
              <a:rPr sz="1000" dirty="0" err="1">
                <a:solidFill>
                  <a:srgbClr val="A6E3A1"/>
                </a:solidFill>
                <a:latin typeface="Consolas"/>
              </a:rPr>
              <a:t>구조</a:t>
            </a:r>
            <a:r>
              <a:rPr sz="1000" dirty="0">
                <a:solidFill>
                  <a:srgbClr val="A6E3A1"/>
                </a:solidFill>
                <a:latin typeface="Consolas"/>
              </a:rPr>
              <a:t> B]  processed/ </a:t>
            </a:r>
            <a:r>
              <a:rPr sz="1000" dirty="0" err="1">
                <a:solidFill>
                  <a:srgbClr val="A6E3A1"/>
                </a:solidFill>
                <a:latin typeface="Consolas"/>
              </a:rPr>
              <a:t>바로</a:t>
            </a:r>
            <a:r>
              <a:rPr sz="1000" dirty="0">
                <a:solidFill>
                  <a:srgbClr val="A6E3A1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A6E3A1"/>
                </a:solidFill>
                <a:latin typeface="Consolas"/>
              </a:rPr>
              <a:t>아래</a:t>
            </a:r>
            <a:endParaRPr sz="1000" dirty="0">
              <a:solidFill>
                <a:srgbClr val="A6E3A1"/>
              </a:solidFill>
              <a:latin typeface="Consolas"/>
            </a:endParaRPr>
          </a:p>
          <a:p>
            <a:r>
              <a:rPr sz="1000" dirty="0">
                <a:solidFill>
                  <a:srgbClr val="A6E3A1"/>
                </a:solidFill>
                <a:latin typeface="Consolas"/>
              </a:rPr>
              <a:t>data/processed/</a:t>
            </a:r>
          </a:p>
          <a:p>
            <a:r>
              <a:rPr sz="1000" dirty="0">
                <a:solidFill>
                  <a:srgbClr val="A6E3A1"/>
                </a:solidFill>
                <a:latin typeface="Consolas"/>
              </a:rPr>
              <a:t>  train/</a:t>
            </a:r>
          </a:p>
          <a:p>
            <a:r>
              <a:rPr sz="1000" dirty="0">
                <a:solidFill>
                  <a:srgbClr val="A6E3A1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A6E3A1"/>
                </a:solidFill>
                <a:latin typeface="Consolas"/>
              </a:rPr>
              <a:t>crops_manifest.json</a:t>
            </a:r>
            <a:endParaRPr sz="1000" dirty="0">
              <a:solidFill>
                <a:srgbClr val="A6E3A1"/>
              </a:solidFill>
              <a:latin typeface="Consolas"/>
            </a:endParaRPr>
          </a:p>
          <a:p>
            <a:r>
              <a:rPr sz="1000" dirty="0">
                <a:solidFill>
                  <a:srgbClr val="A6E3A1"/>
                </a:solidFill>
                <a:latin typeface="Consolas"/>
              </a:rPr>
              <a:t>    &lt;</a:t>
            </a:r>
            <a:r>
              <a:rPr sz="1000" dirty="0" err="1">
                <a:solidFill>
                  <a:srgbClr val="A6E3A1"/>
                </a:solidFill>
                <a:latin typeface="Consolas"/>
              </a:rPr>
              <a:t>class_name</a:t>
            </a:r>
            <a:r>
              <a:rPr sz="1000" dirty="0">
                <a:solidFill>
                  <a:srgbClr val="A6E3A1"/>
                </a:solidFill>
                <a:latin typeface="Consolas"/>
              </a:rPr>
              <a:t>&gt;/</a:t>
            </a:r>
          </a:p>
          <a:p>
            <a:r>
              <a:rPr sz="1000" dirty="0">
                <a:solidFill>
                  <a:srgbClr val="A6E3A1"/>
                </a:solidFill>
                <a:latin typeface="Consolas"/>
              </a:rPr>
              <a:t>  </a:t>
            </a:r>
            <a:r>
              <a:rPr sz="1000" dirty="0" err="1">
                <a:solidFill>
                  <a:srgbClr val="A6E3A1"/>
                </a:solidFill>
                <a:latin typeface="Consolas"/>
              </a:rPr>
              <a:t>val</a:t>
            </a:r>
            <a:r>
              <a:rPr sz="1000" dirty="0">
                <a:solidFill>
                  <a:srgbClr val="A6E3A1"/>
                </a:solidFill>
                <a:latin typeface="Consolas"/>
              </a:rPr>
              <a:t>/</a:t>
            </a:r>
          </a:p>
          <a:p>
            <a:r>
              <a:rPr sz="1000" dirty="0">
                <a:solidFill>
                  <a:srgbClr val="A6E3A1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A6E3A1"/>
                </a:solidFill>
                <a:latin typeface="Consolas"/>
              </a:rPr>
              <a:t>crops_manifest.json</a:t>
            </a:r>
            <a:endParaRPr sz="1000" dirty="0">
              <a:solidFill>
                <a:srgbClr val="A6E3A1"/>
              </a:solidFill>
              <a:latin typeface="Consolas"/>
            </a:endParaRPr>
          </a:p>
          <a:p>
            <a:r>
              <a:rPr sz="1000" dirty="0">
                <a:solidFill>
                  <a:srgbClr val="A6E3A1"/>
                </a:solidFill>
                <a:latin typeface="Consolas"/>
              </a:rPr>
              <a:t>    &lt;</a:t>
            </a:r>
            <a:r>
              <a:rPr sz="1000" dirty="0" err="1">
                <a:solidFill>
                  <a:srgbClr val="A6E3A1"/>
                </a:solidFill>
                <a:latin typeface="Consolas"/>
              </a:rPr>
              <a:t>class_name</a:t>
            </a:r>
            <a:r>
              <a:rPr sz="1000" dirty="0">
                <a:solidFill>
                  <a:srgbClr val="A6E3A1"/>
                </a:solidFill>
                <a:latin typeface="Consolas"/>
              </a:rPr>
              <a:t>&gt;/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Pretendard"/>
              </a:rPr>
              <a:t>노트북 자동 처리 흐름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486400" cy="1417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457200" cy="14173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Pretendard"/>
              </a:rPr>
              <a:t>GT_CROP_ROOT 자동 탐지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9659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crops/train/crops_manifest.json 또는
train/crops_manifest.json 존재 여부로 결정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108960"/>
            <a:ext cx="5486400" cy="1417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108960"/>
            <a:ext cx="457200" cy="14173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36208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Pretendard"/>
              </a:rPr>
              <a:t>manifest 존재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5661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train + val manifest 모두 존재하면 로드만 수행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709160"/>
            <a:ext cx="5486400" cy="1417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4709160"/>
            <a:ext cx="457200" cy="14173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5166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800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Pretendard"/>
              </a:rPr>
              <a:t>manifest 없을 때 자동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166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crop.py --imagefolder GT_CROP_ROOT 실행
→ ImageFolder 구조에서 manifest 생성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실행 플래그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51460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25296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플래그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188720"/>
            <a:ext cx="114300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22529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기본값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96012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122529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활성값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188720"/>
            <a:ext cx="653796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122529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36192"/>
            <a:ext cx="2514600" cy="62179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6459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B4FA"/>
                </a:solidFill>
                <a:latin typeface="Pretendard"/>
              </a:rPr>
              <a:t>RUN_BOOTSTRAP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536192"/>
            <a:ext cx="1143000" cy="62179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16459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536192"/>
            <a:ext cx="960120" cy="62179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59" y="1645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  <a:latin typeface="Pretendard"/>
              </a:rPr>
              <a:t>False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1536192"/>
            <a:ext cx="6537960" cy="62179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784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Drive mount, clone, install, unzip 전체 스킵. 런타임 재시작 후 이미 설치된 경우 사용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94560"/>
            <a:ext cx="2514600" cy="62179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304288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B4FA"/>
                </a:solidFill>
                <a:latin typeface="Pretendard"/>
              </a:rPr>
              <a:t>RUN_TRAIN_S1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2194560"/>
            <a:ext cx="1143000" cy="62179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230428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False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194560"/>
            <a:ext cx="960120" cy="62179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59" y="230428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A6E3A1"/>
                </a:solidFill>
                <a:latin typeface="Pretendard"/>
              </a:rPr>
              <a:t>True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194560"/>
            <a:ext cx="6537960" cy="62179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77840" y="23042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Stage 1 YOLO 탐지 모델 학습. weight 없을 때만 True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52928"/>
            <a:ext cx="2514600" cy="62179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2962656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B4FA"/>
                </a:solidFill>
                <a:latin typeface="Pretendard"/>
              </a:rPr>
              <a:t>RUN_TRAIN_S2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2852928"/>
            <a:ext cx="1143000" cy="62179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0" y="2962656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False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2852928"/>
            <a:ext cx="960120" cy="62179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0559" y="296265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A6E3A1"/>
                </a:solidFill>
                <a:latin typeface="Pretendard"/>
              </a:rPr>
              <a:t>True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2852928"/>
            <a:ext cx="6537960" cy="62179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77840" y="296265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DD6F4"/>
                </a:solidFill>
                <a:latin typeface="Pretendard"/>
              </a:rPr>
              <a:t>Stage 2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분류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모델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학습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. weight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없을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때만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True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511296"/>
            <a:ext cx="2514600" cy="62179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3621024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B4FA"/>
                </a:solidFill>
                <a:latin typeface="Pretendard"/>
              </a:rPr>
              <a:t>RUN_VAL_PIPELINE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3511296"/>
            <a:ext cx="1143000" cy="62179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0" y="362102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True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3511296"/>
            <a:ext cx="960120" cy="62179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80559" y="362102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A6E3A1"/>
                </a:solidFill>
                <a:latin typeface="Pretendard"/>
              </a:rPr>
              <a:t>False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3511296"/>
            <a:ext cx="6537960" cy="62179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77840" y="362102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DD6F4"/>
                </a:solidFill>
                <a:latin typeface="Pretendard"/>
              </a:rPr>
              <a:t>Validation E2E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추론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및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평가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실행</a:t>
            </a:r>
            <a:endParaRPr sz="1100" b="0" dirty="0">
              <a:solidFill>
                <a:srgbClr val="CDD6F4"/>
              </a:solidFill>
              <a:latin typeface="Pretendard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57200" y="4169664"/>
            <a:ext cx="2514600" cy="62179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4279392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B4FA"/>
                </a:solidFill>
                <a:latin typeface="Pretendard"/>
              </a:rPr>
              <a:t>RUN_TEST_SUBMISSION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4169664"/>
            <a:ext cx="1143000" cy="62179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0" y="42793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False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4169664"/>
            <a:ext cx="960120" cy="62179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80559" y="427939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  <a:latin typeface="Pretendard"/>
              </a:rPr>
              <a:t>True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4169664"/>
            <a:ext cx="6537960" cy="62179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77840" y="42793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DD6F4"/>
                </a:solidFill>
                <a:latin typeface="Pretendard"/>
              </a:rPr>
              <a:t>Test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추론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+ submission.csv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생성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. Kaggle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제출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</a:t>
            </a:r>
            <a:r>
              <a:rPr sz="1100" b="0" dirty="0" err="1">
                <a:solidFill>
                  <a:srgbClr val="CDD6F4"/>
                </a:solidFill>
                <a:latin typeface="Pretendard"/>
              </a:rPr>
              <a:t>직전에만</a:t>
            </a:r>
            <a:r>
              <a:rPr sz="1100" b="0" dirty="0">
                <a:solidFill>
                  <a:srgbClr val="CDD6F4"/>
                </a:solidFill>
                <a:latin typeface="Pretendard"/>
              </a:rPr>
              <a:t> True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828031"/>
            <a:ext cx="2514600" cy="62179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4937759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B4FA"/>
                </a:solidFill>
                <a:latin typeface="Pretendard"/>
              </a:rPr>
              <a:t>RUN_STAGE2_TUNING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4828031"/>
            <a:ext cx="1143000" cy="62179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00400" y="493775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False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4828031"/>
            <a:ext cx="960120" cy="62179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80559" y="4937759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  <a:latin typeface="Pretendard"/>
              </a:rPr>
              <a:t>True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4838190"/>
            <a:ext cx="6537960" cy="62179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77840" y="493775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Pretendard"/>
              </a:rPr>
              <a:t>HPO(Grid Search / Optuna) 실행. 시간 소요 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전역변수 레퍼런스 — 경로 변수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94960" cy="347472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✏  직접 수정 필요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5394960" cy="7132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8BA8"/>
                </a:solidFill>
                <a:latin typeface="Pretendard"/>
              </a:rPr>
              <a:t>EXP_NAME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556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A6E3A1"/>
                </a:solidFill>
                <a:latin typeface="Pretendard"/>
              </a:rPr>
              <a:t>"exp_20260420_baseline_yolo26n"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B8B"/>
                </a:solidFill>
                <a:latin typeface="Pretendard"/>
              </a:rPr>
              <a:t>실험 디렉터리명. 본인 실험 폴더명으로 변경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5394960" cy="713232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311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8BA8"/>
                </a:solidFill>
                <a:latin typeface="Pretendard"/>
              </a:rPr>
              <a:t>DATA_ROOT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0545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A6E3A1"/>
                </a:solidFill>
                <a:latin typeface="Pretendard"/>
              </a:rPr>
              <a:t>Path("/content/data/processed")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8833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B8B"/>
                </a:solidFill>
                <a:latin typeface="Pretendard"/>
              </a:rPr>
              <a:t>압축 해제 후 processed/ 위치. 구조가 다르면 수정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5394960" cy="7132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9809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8BA8"/>
                </a:solidFill>
                <a:latin typeface="Pretendard"/>
              </a:rPr>
              <a:t>TEST_IMG_DIR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55263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6E3A1"/>
                </a:solidFill>
                <a:latin typeface="Pretendard"/>
              </a:rPr>
              <a:t>Path("/content/data/test_images")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43814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B8B"/>
                </a:solidFill>
                <a:latin typeface="Pretendard"/>
              </a:rPr>
              <a:t>test 이미지 루트. 없으면 images/test 로 자동 fallback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97280"/>
            <a:ext cx="539496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13385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⚙  자동 결정 (수정 불필요)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44752"/>
            <a:ext cx="5394960" cy="274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47218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EXP_DIR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4721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PROJECT_ROOT / experiments / EXP_NAME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37360"/>
            <a:ext cx="5394960" cy="27432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176479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DATA_YAML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76479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DATA_ROOT / dataset.yaml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029968"/>
            <a:ext cx="5394960" cy="274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205740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VAL_IMG_DIR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05740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DATA_ROOT / images/val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322576"/>
            <a:ext cx="5394960" cy="27432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235000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VAL_LABEL_DIR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3500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DATA_ROOT / labels/val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615184"/>
            <a:ext cx="5394960" cy="274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264261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GT_CROP_ROOT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64261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crops/train 존재 시 DATA_ROOT/crops, 아니면 DATA_ROOT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907792"/>
            <a:ext cx="5394960" cy="27432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29352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S1_CONFIG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93522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EXP_DIR / s1_config.yaml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200400"/>
            <a:ext cx="5394960" cy="274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322783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S2_CONFIG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2278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EXP_DIR / s2_config.yaml  (fallback: stage2_classifier/config.yaml)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493008"/>
            <a:ext cx="5394960" cy="27432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352044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BEST_PT_S1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52044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EXP_DIR / weights/best.pt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785616"/>
            <a:ext cx="5394960" cy="274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55080" y="381304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BEST_PT_S2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7673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CDD6F4"/>
                </a:solidFill>
                <a:latin typeface="Pretendard"/>
              </a:rPr>
              <a:t>EXP_DIR / stage2/weights/best.pt  (fallback: stage2_classifier/weights/best.pt)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078224"/>
            <a:ext cx="5394960" cy="27432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55080" y="410565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VAL_S1_PRED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10565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EXP_DIR / val_predictions.json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370832"/>
            <a:ext cx="5394960" cy="274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55080" y="439826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VAL_CROP_DIR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3982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EXP_DIR / stage1_crops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4663440"/>
            <a:ext cx="5394960" cy="27432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55080" y="469087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VAL_S2_PRED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46908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EXP_DIR / stage2_predictions.json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4956048"/>
            <a:ext cx="5394960" cy="274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55080" y="49834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TEST_S1_PRED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49834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EXP_DIR / test_s1_predictions.json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5248656"/>
            <a:ext cx="5394960" cy="27432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355080" y="527608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TEST_CROP_DIR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527608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EXP_DIR / test_s1_crops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5541264"/>
            <a:ext cx="5394960" cy="274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55080" y="556869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TEST_S2_PRED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556869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EXP_DIR / test_s2_predictions.json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5833872"/>
            <a:ext cx="5394960" cy="27432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355080" y="5861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SUBMISSION_CSV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86130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CDD6F4"/>
                </a:solidFill>
                <a:latin typeface="Pretendard"/>
              </a:rPr>
              <a:t>PROJECT_ROOT / submissions/submission_colab.csv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6126480"/>
            <a:ext cx="5394960" cy="274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55080" y="615391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KAGGLE_CLASS_MAP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615391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DD6F4"/>
                </a:solidFill>
                <a:latin typeface="Pretendard"/>
              </a:rPr>
              <a:t>PROJECT_ROOT / data/processed/kaggle_class_map.json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6419088"/>
            <a:ext cx="5394960" cy="27432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55080" y="644652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  <a:latin typeface="Pretendard"/>
              </a:rPr>
              <a:t>UNKNOWN_CLASS_MAP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639165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CDD6F4"/>
                </a:solidFill>
                <a:latin typeface="Pretendard"/>
              </a:rPr>
              <a:t>PROJECT_ROOT / data/processed/</a:t>
            </a:r>
            <a:r>
              <a:rPr sz="800" b="0" dirty="0" err="1">
                <a:solidFill>
                  <a:srgbClr val="CDD6F4"/>
                </a:solidFill>
                <a:latin typeface="Pretendard"/>
              </a:rPr>
              <a:t>kaggle_unknown_class_map.json</a:t>
            </a:r>
            <a:endParaRPr sz="800" b="0" dirty="0">
              <a:solidFill>
                <a:srgbClr val="CDD6F4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retendard"/>
              </a:rPr>
              <a:t>전역변수 레퍼런스 — HPO 튜닝 변수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423160" cy="32918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79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1E2E"/>
                </a:solidFill>
                <a:latin typeface="Pretendard"/>
              </a:rPr>
              <a:t>변수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143000"/>
            <a:ext cx="1417320" cy="32918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11795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1E2E"/>
                </a:solidFill>
                <a:latin typeface="Pretendard"/>
              </a:rPr>
              <a:t>기본값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43000"/>
            <a:ext cx="1874520" cy="32918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1795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1E2E"/>
                </a:solidFill>
                <a:latin typeface="Pretendard"/>
              </a:rPr>
              <a:t>허용 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143000"/>
            <a:ext cx="5349240" cy="32918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1795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1E2E"/>
                </a:solidFill>
                <a:latin typeface="Pretendard"/>
              </a:rPr>
              <a:t>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72184"/>
            <a:ext cx="242316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554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E3A1"/>
                </a:solidFill>
                <a:latin typeface="Pretendard"/>
              </a:rPr>
              <a:t>TUNING_METHOD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472184"/>
            <a:ext cx="141732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0" y="15544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9B4FA"/>
                </a:solidFill>
                <a:latin typeface="Pretendard"/>
              </a:rPr>
              <a:t>"optuna"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472184"/>
            <a:ext cx="187452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5544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  <a:latin typeface="Pretendard"/>
              </a:rPr>
              <a:t>"grid" 또는 "optuna"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472184"/>
            <a:ext cx="534924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1554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  <a:latin typeface="Pretendard"/>
              </a:rPr>
              <a:t>HPO 방식 선택. grid는 Cartesian product, optuna는 베이지안 탐색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975104"/>
            <a:ext cx="2423160" cy="47548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0574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E3A1"/>
                </a:solidFill>
                <a:latin typeface="Pretendard"/>
              </a:rPr>
              <a:t>TUNING_EPOCHS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1975104"/>
            <a:ext cx="1417320" cy="47548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08960" y="20574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9B4FA"/>
                </a:solidFill>
                <a:latin typeface="Pretendard"/>
              </a:rPr>
              <a:t>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975104"/>
            <a:ext cx="1874520" cy="47548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20574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  <a:latin typeface="Pretendard"/>
              </a:rPr>
              <a:t>정수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975104"/>
            <a:ext cx="5349240" cy="47548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2057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  <a:latin typeface="Pretendard"/>
              </a:rPr>
              <a:t>각 trial에서 학습할 epoch 수. 탐색 속도와 정확도 트레이드오프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478024"/>
            <a:ext cx="242316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25603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E3A1"/>
                </a:solidFill>
                <a:latin typeface="Pretendard"/>
              </a:rPr>
              <a:t>TUNING_TRIALS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478024"/>
            <a:ext cx="141732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0" y="25603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9B4FA"/>
                </a:solidFill>
                <a:latin typeface="Pretendard"/>
              </a:rPr>
              <a:t>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78024"/>
            <a:ext cx="187452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63440" y="25603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  <a:latin typeface="Pretendard"/>
              </a:rPr>
              <a:t>정수 (optuna 전용)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478024"/>
            <a:ext cx="534924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25603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  <a:latin typeface="Pretendard"/>
              </a:rPr>
              <a:t>Optuna trial 수. grid 모드에서는 --max-trials 12 고정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980944"/>
            <a:ext cx="2423160" cy="47548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306323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E3A1"/>
                </a:solidFill>
                <a:latin typeface="Pretendard"/>
              </a:rPr>
              <a:t>TUNING_METRIC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2980944"/>
            <a:ext cx="1417320" cy="47548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08960" y="30632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9B4FA"/>
                </a:solidFill>
                <a:latin typeface="Pretendard"/>
              </a:rPr>
              <a:t>"top1_acc"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980944"/>
            <a:ext cx="1874520" cy="47548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63440" y="30632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CDD6F4"/>
                </a:solidFill>
                <a:latin typeface="Pretendard"/>
              </a:rPr>
              <a:t>"top1_acc" | "top5_acc"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2980944"/>
            <a:ext cx="5349240" cy="47548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0" y="306323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CDD6F4"/>
                </a:solidFill>
                <a:latin typeface="Pretendard"/>
              </a:rPr>
              <a:t>최적화</a:t>
            </a:r>
            <a:r>
              <a:rPr sz="1000" b="0" dirty="0">
                <a:solidFill>
                  <a:srgbClr val="CDD6F4"/>
                </a:solidFill>
                <a:latin typeface="Pretendard"/>
              </a:rPr>
              <a:t> </a:t>
            </a:r>
            <a:r>
              <a:rPr sz="1000" b="0" dirty="0" err="1">
                <a:solidFill>
                  <a:srgbClr val="CDD6F4"/>
                </a:solidFill>
                <a:latin typeface="Pretendard"/>
              </a:rPr>
              <a:t>기준</a:t>
            </a:r>
            <a:r>
              <a:rPr sz="1000" b="0" dirty="0">
                <a:solidFill>
                  <a:srgbClr val="CDD6F4"/>
                </a:solidFill>
                <a:latin typeface="Pretendard"/>
              </a:rPr>
              <a:t> metric. Stage 2 classifier validation </a:t>
            </a:r>
            <a:r>
              <a:rPr sz="1000" b="0" dirty="0" err="1">
                <a:solidFill>
                  <a:srgbClr val="CDD6F4"/>
                </a:solidFill>
                <a:latin typeface="Pretendard"/>
              </a:rPr>
              <a:t>기준</a:t>
            </a:r>
            <a:endParaRPr sz="1000" b="0" dirty="0">
              <a:solidFill>
                <a:srgbClr val="CDD6F4"/>
              </a:solidFill>
              <a:latin typeface="Pretendard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7200" y="3383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  <a:latin typeface="Pretendard"/>
              </a:rPr>
              <a:t>탐색 공간 변수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794760"/>
            <a:ext cx="11274552" cy="2743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3886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D6F4"/>
                </a:solidFill>
                <a:latin typeface="Pretendard"/>
              </a:rPr>
              <a:t>Grid Search (리스트 → Cartesian product)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206240"/>
            <a:ext cx="5486400" cy="228600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297679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solidFill>
                  <a:srgbClr val="A6E3A1"/>
                </a:solidFill>
                <a:latin typeface="Consolas"/>
              </a:rPr>
              <a:t>GRID_SEARCH_SPACE = {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"model": {"name": ["resnet50", "efficientnet_b2"]},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"train": {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    "lr0": [3e-5, 1e-4, 3e-4],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    "</a:t>
            </a:r>
            <a:r>
              <a:rPr sz="900" dirty="0" err="1">
                <a:solidFill>
                  <a:srgbClr val="A6E3A1"/>
                </a:solidFill>
                <a:latin typeface="Consolas"/>
              </a:rPr>
              <a:t>weight_decay</a:t>
            </a:r>
            <a:r>
              <a:rPr sz="900" dirty="0">
                <a:solidFill>
                  <a:srgbClr val="A6E3A1"/>
                </a:solidFill>
                <a:latin typeface="Consolas"/>
              </a:rPr>
              <a:t>": [1e-3, 1e-2],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    "</a:t>
            </a:r>
            <a:r>
              <a:rPr sz="900" dirty="0" err="1">
                <a:solidFill>
                  <a:srgbClr val="A6E3A1"/>
                </a:solidFill>
                <a:latin typeface="Consolas"/>
              </a:rPr>
              <a:t>label_smoothing</a:t>
            </a:r>
            <a:r>
              <a:rPr sz="900" dirty="0">
                <a:solidFill>
                  <a:srgbClr val="A6E3A1"/>
                </a:solidFill>
                <a:latin typeface="Consolas"/>
              </a:rPr>
              <a:t>": [0.0, 0.05, 0.1],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},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}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# </a:t>
            </a:r>
            <a:r>
              <a:rPr sz="900" dirty="0" err="1">
                <a:solidFill>
                  <a:srgbClr val="A6E3A1"/>
                </a:solidFill>
                <a:latin typeface="Consolas"/>
              </a:rPr>
              <a:t>조합</a:t>
            </a:r>
            <a:r>
              <a:rPr sz="900" dirty="0">
                <a:solidFill>
                  <a:srgbClr val="A6E3A1"/>
                </a:solidFill>
                <a:latin typeface="Consolas"/>
              </a:rPr>
              <a:t> 수 = 2 × 3 × 2 × 3 = 36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886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D6F4"/>
                </a:solidFill>
                <a:latin typeface="Pretendard"/>
              </a:rPr>
              <a:t>Optuna (type 지정 → 베이지안 탐색)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206240"/>
            <a:ext cx="5486400" cy="228600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55080" y="4297679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solidFill>
                  <a:srgbClr val="A6E3A1"/>
                </a:solidFill>
                <a:latin typeface="Consolas"/>
              </a:rPr>
              <a:t>OPTUNA_SEARCH_SPACE = {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"model": {"name": {"type": "categorical",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          "choices": ["resnet50", "efficientnet_b2"]}},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"train": {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    "lr0":          {"type":"float","low":1e-5,"high":3e-4,"log":True},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    "</a:t>
            </a:r>
            <a:r>
              <a:rPr sz="900" dirty="0" err="1">
                <a:solidFill>
                  <a:srgbClr val="A6E3A1"/>
                </a:solidFill>
                <a:latin typeface="Consolas"/>
              </a:rPr>
              <a:t>weight_decay</a:t>
            </a:r>
            <a:r>
              <a:rPr sz="900" dirty="0">
                <a:solidFill>
                  <a:srgbClr val="A6E3A1"/>
                </a:solidFill>
                <a:latin typeface="Consolas"/>
              </a:rPr>
              <a:t>": {"type":"float","low":1e-4,"high":1e-2,"log":True},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    "</a:t>
            </a:r>
            <a:r>
              <a:rPr sz="900" dirty="0" err="1">
                <a:solidFill>
                  <a:srgbClr val="A6E3A1"/>
                </a:solidFill>
                <a:latin typeface="Consolas"/>
              </a:rPr>
              <a:t>label_smoothing</a:t>
            </a:r>
            <a:r>
              <a:rPr sz="900" dirty="0">
                <a:solidFill>
                  <a:srgbClr val="A6E3A1"/>
                </a:solidFill>
                <a:latin typeface="Consolas"/>
              </a:rPr>
              <a:t>":{"type":"float","low":0.0,"high":0.15},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    },</a:t>
            </a:r>
          </a:p>
          <a:p>
            <a:r>
              <a:rPr sz="900" dirty="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1473</Words>
  <Application>Microsoft Office PowerPoint</Application>
  <PresentationFormat>사용자 지정</PresentationFormat>
  <Paragraphs>233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Pretendard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윤 승준</cp:lastModifiedBy>
  <cp:revision>2</cp:revision>
  <dcterms:created xsi:type="dcterms:W3CDTF">2013-01-27T09:14:16Z</dcterms:created>
  <dcterms:modified xsi:type="dcterms:W3CDTF">2026-04-30T05:42:07Z</dcterms:modified>
  <cp:category/>
</cp:coreProperties>
</file>